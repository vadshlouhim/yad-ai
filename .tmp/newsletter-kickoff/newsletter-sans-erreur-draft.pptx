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8"/>
  </p:notesMasterIdLst>
  <p:sldIdLst>
    <p:sldId id="395" r:id="rId2"/>
    <p:sldId id="324" r:id="rId3"/>
    <p:sldId id="303" r:id="rId4"/>
    <p:sldId id="380" r:id="rId5"/>
    <p:sldId id="337" r:id="rId6"/>
    <p:sldId id="396" r:id="rId7"/>
  </p:sldIdLst>
  <p:sldSz cx="12192000" cy="6858000"/>
  <p:notesSz cx="6858000" cy="9144000"/>
  <p:embeddedFontLst>
    <p:embeddedFont>
      <p:font typeface="Inter" panose="020B0604020202020204" charset="0"/>
      <p:regular r:id="rId9"/>
      <p:bold r:id="rId10"/>
    </p:embeddedFont>
    <p:embeddedFont>
      <p:font typeface="Inter Medium" panose="020B0604020202020204" charset="0"/>
      <p:regular r:id="rId11"/>
    </p:embeddedFont>
    <p:embeddedFont>
      <p:font typeface="Inter SemiBold" panose="020B0604020202020204" charset="0"/>
      <p:regular r:id="rId12"/>
      <p:bold r:id="rId13"/>
    </p:embeddedFont>
    <p:embeddedFont>
      <p:font typeface="OpenAI Sans" panose="020B060402020202020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F59"/>
    <a:srgbClr val="002615"/>
    <a:srgbClr val="003700"/>
    <a:srgbClr val="2846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30"/>
    <p:restoredTop sz="94658"/>
  </p:normalViewPr>
  <p:slideViewPr>
    <p:cSldViewPr snapToGrid="0">
      <p:cViewPr varScale="1">
        <p:scale>
          <a:sx n="95" d="100"/>
          <a:sy n="95" d="100"/>
        </p:scale>
        <p:origin x="192" y="624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3951-66C6-D7E8-790F-0CF0CDEB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305F7-2A47-9EE7-0DC5-5E2F42F3B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FE7F8-18F2-E7F6-1F97-F0863823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FCA35-09F3-955D-A869-31D73771F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70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5BC28-9524-1B7D-E3AA-F990D78B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D828E-5EDC-0AF2-6042-7603D5D3D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1E9CF-1F68-1247-7EAB-5CD824009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03618-3741-A418-A2E3-3DC1C79DF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1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700" y="1041400"/>
            <a:ext cx="7493000" cy="2491490"/>
          </a:xfrm>
        </p:spPr>
        <p:txBody>
          <a:bodyPr wrap="square" anchor="b"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3700" y="4356100"/>
            <a:ext cx="5537200" cy="1638300"/>
          </a:xfrm>
        </p:spPr>
        <p:txBody>
          <a:bodyPr wrap="square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 panose="02000503000000020004" pitchFamily="2" charset="0"/>
          <a:ea typeface="Inter Medium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7" orient="horz" pos="248">
          <p15:clr>
            <a:srgbClr val="F26B43"/>
          </p15:clr>
        </p15:guide>
        <p15:guide id="18" orient="horz" pos="656">
          <p15:clr>
            <a:srgbClr val="F26B43"/>
          </p15:clr>
        </p15:guide>
        <p15:guide id="19" orient="horz" pos="872">
          <p15:clr>
            <a:srgbClr val="F26B43"/>
          </p15:clr>
        </p15:guide>
        <p15:guide id="20" orient="horz" pos="1280">
          <p15:clr>
            <a:srgbClr val="F26B43"/>
          </p15:clr>
        </p15:guide>
        <p15:guide id="21" orient="horz" pos="1496">
          <p15:clr>
            <a:srgbClr val="F26B43"/>
          </p15:clr>
        </p15:guide>
        <p15:guide id="22" orient="horz" pos="1904">
          <p15:clr>
            <a:srgbClr val="F26B43"/>
          </p15:clr>
        </p15:guide>
        <p15:guide id="23" orient="horz" pos="2120">
          <p15:clr>
            <a:srgbClr val="F26B43"/>
          </p15:clr>
        </p15:guide>
        <p15:guide id="24" orient="horz" pos="2528">
          <p15:clr>
            <a:srgbClr val="F26B43"/>
          </p15:clr>
        </p15:guide>
        <p15:guide id="25" orient="horz" pos="2744">
          <p15:clr>
            <a:srgbClr val="F26B43"/>
          </p15:clr>
        </p15:guide>
        <p15:guide id="26" orient="horz" pos="3152">
          <p15:clr>
            <a:srgbClr val="F26B43"/>
          </p15:clr>
        </p15:guide>
        <p15:guide id="27" orient="horz" pos="3368">
          <p15:clr>
            <a:srgbClr val="F26B43"/>
          </p15:clr>
        </p15:guide>
        <p15:guide id="28" orient="horz" pos="3776">
          <p15:clr>
            <a:srgbClr val="F26B43"/>
          </p15:clr>
        </p15:guide>
        <p15:guide id="29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212E-7E50-75A6-1CA5-A5F54F2E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714500"/>
            <a:ext cx="9448800" cy="2921000"/>
          </a:xfrm>
        </p:spPr>
        <p:txBody>
          <a:bodyPr wrap="square">
            <a:normAutofit/>
          </a:bodyPr>
          <a:lstStyle/>
          <a:p>
            <a:pPr algn="ctr"/>
            <a:r>
              <a:rPr lang="fr-FR" sz="5000">
                <a:solidFill>
                  <a:srgbClr val="BCEF59"/>
                </a:solidFill>
              </a:rPr>
              <a:t>Newsletter sans erreur</a:t>
            </a:r>
            <a:br>
              <a:rPr lang="fr-FR" sz="5000">
                <a:solidFill>
                  <a:srgbClr val="BCEF59"/>
                </a:solidFill>
              </a:rPr>
            </a:br>
            <a:r>
              <a:rPr lang="fr-FR" sz="5000">
                <a:solidFill>
                  <a:srgbClr val="BCEF59"/>
                </a:solidFill>
              </a:rPr>
              <a:t>Composition adaptative</a:t>
            </a:r>
            <a:endParaRPr lang="en-US" sz="5000" dirty="0">
              <a:solidFill>
                <a:srgbClr val="BCEF59"/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 txBox="1">
            <a:spLocks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200">
                <a:latin typeface="Inter Medium" panose="02000503000000020004" pitchFamily="2" charset="0"/>
                <a:ea typeface="Inter Medium" panose="02000503000000020004" pitchFamily="2" charset="0"/>
              </a:rPr>
              <a:t>Une composition qui aboutit dans toutes les situations</a:t>
            </a:r>
            <a:endParaRPr lang="en-US" sz="22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/>
          <p:nvPr/>
        </p:nvSpPr>
        <p:spPr>
          <a:xfrm>
            <a:off x="4793264" y="1096027"/>
            <a:ext cx="2604013" cy="488816"/>
          </a:xfrm>
          <a:prstGeom prst="roundRect">
            <a:avLst>
              <a:gd name="adj" fmla="val 5000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fr-FR" sz="1600" b="1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Plan de mise en œuvre</a:t>
            </a:r>
            <a:endParaRPr lang="en-US" sz="1600" b="1" dirty="0">
              <a:solidFill>
                <a:schemeClr val="tx1"/>
              </a:solidFill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rmAutofit/>
          </a:bodyPr>
          <a:lstStyle/>
          <a:p>
            <a:r>
              <a:rPr lang="en">
                <a:sym typeface="OpenAI Sans"/>
              </a:rPr>
              <a:t>2</a:t>
            </a:r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rtlCol="0" anchor="t" anchorCtr="0">
            <a:normAutofit/>
          </a:bodyPr>
          <a:lstStyle/>
          <a:p>
            <a:r>
              <a:rPr lang="fr-FR"/>
              <a:t>Le moteur doit toujours produire un document exploitable, quelle que soit la quantité de contenu</a:t>
            </a:r>
            <a:endParaRPr lang="en-US" dirty="0"/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00" b="1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Aucun blocage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00" b="1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L’aperçu et le PDF restent disponibles. Le moteur ne lance plus d’erreur liée au dépassement de page.</a:t>
            </a:r>
            <a:endParaRPr sz="18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 wrap="square"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fr-FR" sz="1800" b="1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Retour clair</a:t>
            </a:r>
          </a:p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fr-FR" sz="1800" b="1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Une indication non bloquante explique les adaptations appliquées au document.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 wrap="square"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fr-FR" sz="1800" b="1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Aucune perte</a:t>
            </a:r>
          </a:p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fr-FR" sz="1800" b="1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Le texte et les images restent présents. La mise en page change avant que le contenu soit réduit.</a:t>
            </a: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 txBox="1">
            <a:spLocks/>
          </p:cNvSpPr>
          <p:nvPr/>
        </p:nvSpPr>
        <p:spPr>
          <a:xfrm>
            <a:off x="393700" y="2763754"/>
            <a:ext cx="1612900" cy="2624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GARANTIE</a:t>
            </a:r>
            <a:endParaRPr lang="en-US" sz="1400" b="1" dirty="0">
              <a:solidFill>
                <a:srgbClr val="BCEF59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 txBox="1">
            <a:spLocks/>
          </p:cNvSpPr>
          <p:nvPr/>
        </p:nvSpPr>
        <p:spPr>
          <a:xfrm>
            <a:off x="4294187" y="2763754"/>
            <a:ext cx="1612900" cy="2624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COMPOSITION</a:t>
            </a:r>
            <a:endParaRPr lang="en-US" sz="1400" b="1" dirty="0">
              <a:solidFill>
                <a:srgbClr val="BCEF59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 txBox="1">
            <a:spLocks/>
          </p:cNvSpPr>
          <p:nvPr/>
        </p:nvSpPr>
        <p:spPr>
          <a:xfrm>
            <a:off x="8223249" y="2763754"/>
            <a:ext cx="1612900" cy="2624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EXPÉRIENCE</a:t>
            </a:r>
            <a:endParaRPr lang="en-US" sz="1400" b="1" dirty="0">
              <a:solidFill>
                <a:srgbClr val="BCEF59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6CEA-FF7D-9794-994B-E1F64405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188" y="6278563"/>
            <a:ext cx="519112" cy="241300"/>
          </a:xfrm>
        </p:spPr>
        <p:txBody>
          <a:bodyPr wrap="square">
            <a:normAutofit/>
          </a:bodyPr>
          <a:lstStyle/>
          <a:p>
            <a:r>
              <a:rPr lang="en"/>
              <a:t>3</a:t>
            </a:r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wrap="square">
            <a:normAutofit/>
          </a:bodyPr>
          <a:lstStyle/>
          <a:p>
            <a:r>
              <a:rPr lang="fr-FR"/>
              <a:t>Stratégie de repli en quatre niveaux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 wrap="square"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fr-FR" sz="220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1. Rééquilibrage</a:t>
            </a:r>
          </a:p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fr-FR" sz="220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Déplacer les rubriques entre recto et verso selon la place réellement mesurée.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 wrap="square"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fr-FR" sz="220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2. Réduction contrôlée</a:t>
            </a:r>
          </a:p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fr-FR" sz="220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Réduire les espacements et les images avant de toucher à la taille du texte.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 txBox="1">
            <a:spLocks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fr-FR" sz="220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3. Pagination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fr-FR" sz="220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Ajouter automatiquement une page dès que deux pages ne suffisent plus.</a:t>
            </a:r>
            <a:endParaRPr lang="en-US" sz="22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 txBox="1">
            <a:spLocks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fr-FR" sz="220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4. Mode de secours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fr-FR" sz="220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Utiliser une composition simple en une colonne si le moteur avancé échoue.</a:t>
            </a:r>
            <a:endParaRPr lang="en-US" sz="22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rmAutofit/>
          </a:bodyPr>
          <a:lstStyle/>
          <a:p>
            <a:r>
              <a:rPr lang="en">
                <a:sym typeface="OpenAI Sans"/>
              </a:rPr>
              <a:t>4</a:t>
            </a:r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rmAutofit/>
          </a:bodyPr>
          <a:lstStyle/>
          <a:p>
            <a:r>
              <a:rPr lang="en-US"/>
              <a:t>Règles de composition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Conserver le ratio, réduire la hauteur, puis déplacer les visuels vers une page suivante.</a:t>
            </a:r>
            <a:endParaRPr lang="en-US" sz="16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Photos et visuels</a:t>
            </a:r>
            <a:endParaRPr lang="en-US" sz="1600" dirty="0">
              <a:solidFill>
                <a:srgbClr val="BCEF59"/>
              </a:solidFill>
              <a:latin typeface="Inter Medium" panose="02000503000000020004" pitchFamily="2" charset="0"/>
              <a:ea typeface="Inter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Garder les blocs entiers si possible. Autoriser leur découpage propre entre deux pages.</a:t>
            </a:r>
            <a:endParaRPr lang="en-US" sz="16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Texte et rubriques</a:t>
            </a:r>
            <a:endParaRPr lang="en-US" sz="1600" dirty="0">
              <a:solidFill>
                <a:srgbClr val="BCEF59"/>
              </a:solidFill>
              <a:latin typeface="Inter Medium" panose="02000503000000020004" pitchFamily="2" charset="0"/>
              <a:ea typeface="Inter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Passer de 1 à 2 pages, puis continuer automatiquement sans limite fixe.</a:t>
            </a:r>
            <a:endParaRPr lang="en-US" sz="16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Nombre de pages</a:t>
            </a:r>
            <a:endParaRPr lang="en-US" sz="1600" dirty="0">
              <a:solidFill>
                <a:srgbClr val="BCEF59"/>
              </a:solidFill>
              <a:latin typeface="Inter Medium" panose="02000503000000020004" pitchFamily="2" charset="0"/>
              <a:ea typeface="Inter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Générer un document minimal lisible et signaler discrètement la simplification.</a:t>
            </a:r>
            <a:endParaRPr lang="en-US" sz="16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Dernier recours</a:t>
            </a:r>
            <a:endParaRPr lang="en-US" sz="1600" dirty="0">
              <a:solidFill>
                <a:srgbClr val="BCEF59"/>
              </a:solidFill>
              <a:latin typeface="Inter Medium" panose="02000503000000020004" pitchFamily="2" charset="0"/>
              <a:ea typeface="Inter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fr-FR" sz="200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Le moteur mesure le contenu réel dans le navigateur et choisit la première composition lisible qui contient toutes les informations.</a:t>
            </a:r>
            <a:endParaRPr lang="en-US" sz="2000" dirty="0">
              <a:latin typeface="Inter Medium" panose="02000503000000020004" pitchFamily="2" charset="0"/>
              <a:ea typeface="Inter Medium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/>
          <p:nvPr/>
        </p:nvSpPr>
        <p:spPr>
          <a:xfrm>
            <a:off x="7833152" y="2134181"/>
            <a:ext cx="3568700" cy="3709944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wrap="square">
            <a:normAutofit/>
          </a:bodyPr>
          <a:lstStyle/>
          <a:p>
            <a:r>
              <a:rPr lang="en-US"/>
              <a:t>5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wrap="square">
            <a:normAutofit/>
          </a:bodyPr>
          <a:lstStyle/>
          <a:p>
            <a:r>
              <a:rPr lang="en-US"/>
              <a:t>Parcours de composition</a:t>
            </a:r>
            <a:endParaRPr lang="en-US" dirty="0"/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12700" cap="flat" cmpd="sng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ÉTAPE 1</a:t>
            </a:r>
            <a:endParaRPr lang="en-US" sz="1400" b="1" dirty="0">
              <a:solidFill>
                <a:srgbClr val="BCEF59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ÉTAPE 2</a:t>
            </a:r>
            <a:endParaRPr lang="en-US" sz="1400" b="1" dirty="0">
              <a:solidFill>
                <a:srgbClr val="BCEF59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ÉTAPE 3</a:t>
            </a:r>
            <a:endParaRPr lang="en-US" sz="1400" b="1" dirty="0">
              <a:solidFill>
                <a:srgbClr val="BCEF59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 txBox="1">
            <a:spLocks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Adaptation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Tester les variantes du plus fidèle au plus compact.</a:t>
            </a:r>
            <a:endParaRPr lang="en-US" sz="16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 txBox="1">
            <a:spLocks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Mesure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Calculer la hauteur de chaque bloc, image et zone fixe.</a:t>
            </a:r>
            <a:endParaRPr lang="en-US" sz="16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 txBox="1">
            <a:spLocks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Livraison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fr-FR" sz="160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Rendre l’aperçu et le PDF, avec un résumé des ajustements.</a:t>
            </a:r>
            <a:endParaRPr lang="en-US" sz="1600"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68FE-81EB-0552-A6F4-2CD3F5A1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714500"/>
            <a:ext cx="9448800" cy="2921000"/>
          </a:xfrm>
        </p:spPr>
        <p:txBody>
          <a:bodyPr wrap="square">
            <a:normAutofit/>
          </a:bodyPr>
          <a:lstStyle/>
          <a:p>
            <a:pPr algn="ctr"/>
            <a:r>
              <a:rPr lang="fr-FR" sz="5000">
                <a:solidFill>
                  <a:srgbClr val="BCEF59"/>
                </a:solidFill>
              </a:rPr>
              <a:t>Décision proposée</a:t>
            </a:r>
            <a:br>
              <a:rPr lang="fr-FR" sz="5000">
                <a:solidFill>
                  <a:srgbClr val="BCEF59"/>
                </a:solidFill>
              </a:rPr>
            </a:br>
            <a:r>
              <a:rPr lang="fr-FR" sz="5000">
                <a:solidFill>
                  <a:srgbClr val="BCEF59"/>
                </a:solidFill>
              </a:rPr>
              <a:t>Newsletter sans erreur</a:t>
            </a:r>
            <a:endParaRPr lang="en-US" sz="5000" dirty="0">
              <a:solidFill>
                <a:srgbClr val="BCEF59"/>
              </a:solidFill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 txBox="1">
            <a:spLocks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200">
                <a:latin typeface="Inter Medium" panose="02000503000000020004" pitchFamily="2" charset="0"/>
                <a:ea typeface="Inter Medium" panose="02000503000000020004" pitchFamily="2" charset="0"/>
              </a:rPr>
              <a:t>Lancer la refonte du moteur de composition</a:t>
            </a:r>
            <a:endParaRPr lang="en-US" sz="22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/>
          <p:nvPr/>
        </p:nvSpPr>
        <p:spPr>
          <a:xfrm>
            <a:off x="4793264" y="1041400"/>
            <a:ext cx="2604013" cy="584200"/>
          </a:xfrm>
          <a:prstGeom prst="roundRect">
            <a:avLst>
              <a:gd name="adj" fmla="val 5000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Prêt pour implémentation</a:t>
            </a:r>
            <a:endParaRPr lang="en-US" sz="1400" b="1" dirty="0">
              <a:solidFill>
                <a:schemeClr val="tx1"/>
              </a:solidFill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1867</TotalTime>
  <Words>328</Words>
  <Application>Microsoft Office PowerPoint</Application>
  <PresentationFormat>Grand écran</PresentationFormat>
  <Paragraphs>51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OpenAI Sans</vt:lpstr>
      <vt:lpstr>Helvetica Neue</vt:lpstr>
      <vt:lpstr>Inter</vt:lpstr>
      <vt:lpstr>Aptos</vt:lpstr>
      <vt:lpstr>Arial</vt:lpstr>
      <vt:lpstr>Inter SemiBold</vt:lpstr>
      <vt:lpstr>Inter Medium</vt:lpstr>
      <vt:lpstr>Default Codex Theme</vt:lpstr>
      <vt:lpstr>Newsletter sans erreur Composition adaptative</vt:lpstr>
      <vt:lpstr>Le moteur doit toujours produire un document exploitable, quelle que soit la quantité de contenu</vt:lpstr>
      <vt:lpstr>Stratégie de repli en quatre niveaux</vt:lpstr>
      <vt:lpstr>Règles de composition</vt:lpstr>
      <vt:lpstr>Parcours de composition</vt:lpstr>
      <vt:lpstr>Décision proposée Newsletter sans erreur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a2885</cp:lastModifiedBy>
  <cp:revision>1</cp:revision>
  <dcterms:modified xsi:type="dcterms:W3CDTF">2026-10-13T20:55:23Z</dcterms:modified>
</cp:coreProperties>
</file>